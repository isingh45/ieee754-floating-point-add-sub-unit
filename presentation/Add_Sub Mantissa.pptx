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Newsreader"/>
      <p:regular r:id="rId23"/>
      <p:bold r:id="rId24"/>
      <p:italic r:id="rId25"/>
      <p:boldItalic r:id="rId26"/>
    </p:embeddedFont>
    <p:embeddedFont>
      <p:font typeface="DM Sans Light"/>
      <p:regular r:id="rId27"/>
      <p:bold r:id="rId28"/>
      <p:italic r:id="rId29"/>
      <p:boldItalic r:id="rId30"/>
    </p:embeddedFont>
    <p:embeddedFont>
      <p:font typeface="DM Sans SemiBold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  <p:embeddedFont>
      <p:font typeface="Newsreader SemiBold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44" Type="http://schemas.openxmlformats.org/officeDocument/2006/relationships/font" Target="fonts/NewsreaderSemiBold-bold.fntdata"/><Relationship Id="rId43" Type="http://schemas.openxmlformats.org/officeDocument/2006/relationships/font" Target="fonts/NewsreaderSemiBold-regular.fntdata"/><Relationship Id="rId46" Type="http://schemas.openxmlformats.org/officeDocument/2006/relationships/font" Target="fonts/NewsreaderSemiBold-boldItalic.fntdata"/><Relationship Id="rId45" Type="http://schemas.openxmlformats.org/officeDocument/2006/relationships/font" Target="fonts/Newsread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SemiBold-regular.fntdata"/><Relationship Id="rId30" Type="http://schemas.openxmlformats.org/officeDocument/2006/relationships/font" Target="fonts/DMSansLight-boldItalic.fntdata"/><Relationship Id="rId33" Type="http://schemas.openxmlformats.org/officeDocument/2006/relationships/font" Target="fonts/DMSansSemiBold-italic.fntdata"/><Relationship Id="rId32" Type="http://schemas.openxmlformats.org/officeDocument/2006/relationships/font" Target="fonts/DMSansSemiBold-bold.fntdata"/><Relationship Id="rId35" Type="http://schemas.openxmlformats.org/officeDocument/2006/relationships/font" Target="fonts/RobotoMono-regular.fntdata"/><Relationship Id="rId34" Type="http://schemas.openxmlformats.org/officeDocument/2006/relationships/font" Target="fonts/DMSansSemiBold-boldItalic.fntdata"/><Relationship Id="rId37" Type="http://schemas.openxmlformats.org/officeDocument/2006/relationships/font" Target="fonts/RobotoMono-italic.fntdata"/><Relationship Id="rId36" Type="http://schemas.openxmlformats.org/officeDocument/2006/relationships/font" Target="fonts/RobotoMono-bold.fntdata"/><Relationship Id="rId39" Type="http://schemas.openxmlformats.org/officeDocument/2006/relationships/font" Target="fonts/DMSans-regular.fntdata"/><Relationship Id="rId38" Type="http://schemas.openxmlformats.org/officeDocument/2006/relationships/font" Target="fonts/RobotoMon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ewsreader-bold.fntdata"/><Relationship Id="rId23" Type="http://schemas.openxmlformats.org/officeDocument/2006/relationships/font" Target="fonts/Newsreader-regular.fntdata"/><Relationship Id="rId26" Type="http://schemas.openxmlformats.org/officeDocument/2006/relationships/font" Target="fonts/Newsreader-boldItalic.fntdata"/><Relationship Id="rId25" Type="http://schemas.openxmlformats.org/officeDocument/2006/relationships/font" Target="fonts/Newsreader-italic.fntdata"/><Relationship Id="rId28" Type="http://schemas.openxmlformats.org/officeDocument/2006/relationships/font" Target="fonts/DMSansLight-bold.fntdata"/><Relationship Id="rId27" Type="http://schemas.openxmlformats.org/officeDocument/2006/relationships/font" Target="fonts/DMSansLight-regular.fntdata"/><Relationship Id="rId29" Type="http://schemas.openxmlformats.org/officeDocument/2006/relationships/font" Target="fonts/DMSans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5541b841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5541b841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5529d3bc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5529d3bc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SUKH: </a:t>
            </a:r>
            <a:r>
              <a:rPr lang="en">
                <a:solidFill>
                  <a:schemeClr val="dk1"/>
                </a:solidFill>
              </a:rPr>
              <a:t>Slide 1: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Two 32-bit inputs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">
                <a:solidFill>
                  <a:schemeClr val="dk1"/>
                </a:solidFill>
              </a:rPr>
              <a:t>) are fed into the unit from registers, and a control signal (likely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Add/Sub</a:t>
            </a:r>
            <a:r>
              <a:rPr lang="en">
                <a:solidFill>
                  <a:schemeClr val="dk1"/>
                </a:solidFill>
              </a:rPr>
              <a:t>) determines whether addition or subtraction is performed. The blue lines show active signal paths, and the result is output as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</a:t>
            </a:r>
            <a:r>
              <a:rPr lang="en">
                <a:solidFill>
                  <a:schemeClr val="dk1"/>
                </a:solidFill>
              </a:rPr>
              <a:t>, with exception flags like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Invalid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Overflow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Inexact</a:t>
            </a:r>
            <a:r>
              <a:rPr lang="en">
                <a:solidFill>
                  <a:schemeClr val="dk1"/>
                </a:solidFill>
              </a:rPr>
              <a:t> set depending on the result. A clock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clk</a:t>
            </a:r>
            <a:r>
              <a:rPr lang="en">
                <a:solidFill>
                  <a:schemeClr val="dk1"/>
                </a:solidFill>
              </a:rPr>
              <a:t>) signal synchronizes the operation, ensuring it's edge-triggered. The constants seen on the data bus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0x400...</a:t>
            </a:r>
            <a:r>
              <a:rPr lang="en">
                <a:solidFill>
                  <a:schemeClr val="dk1"/>
                </a:solidFill>
              </a:rPr>
              <a:t>) are IEEE 754 floating-point representations, hunting this unit may support floating-point arithmetic. The left-side block is a memory or instruction decoder controlling inputs and the type of operation.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552edfd6e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552edfd6e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552edfd6e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552edfd6e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feranmi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5529d3bc2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5529d3bc2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Line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5529d3bc2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5529d3bc2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5529d3bc2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5529d3bc2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</a:t>
            </a:r>
            <a:r>
              <a:rPr lang="en">
                <a:solidFill>
                  <a:schemeClr val="dk1"/>
                </a:solidFill>
              </a:rPr>
              <a:t>anm</a:t>
            </a:r>
            <a:r>
              <a:rPr lang="en"/>
              <a:t>i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552edfd6e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552edfd6e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Sukhpinder Singh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552edfd6e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552edfd6e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Sukhpinder Singh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5529d3bc2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5529d3bc2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Inderpal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For net subtraction  it going complement 1 comp 56 and than gogin add the 56 because subtraction you carry out get wrapped back into Cin and if F mantissa is bigger than E mantissa than we end up with negative result we need complement again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Carryout becomes the 57 bit during addition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net subtraction, the F mantissa goes through the </a:t>
            </a:r>
            <a:r>
              <a:rPr b="1" lang="en">
                <a:solidFill>
                  <a:schemeClr val="dk1"/>
                </a:solidFill>
              </a:rPr>
              <a:t>1’s complement block (1 Comp 56)</a:t>
            </a:r>
            <a:r>
              <a:rPr lang="en">
                <a:solidFill>
                  <a:schemeClr val="dk1"/>
                </a:solidFill>
              </a:rPr>
              <a:t>. Then it's added to the E mantissa using the </a:t>
            </a:r>
            <a:r>
              <a:rPr b="1" lang="en">
                <a:solidFill>
                  <a:schemeClr val="dk1"/>
                </a:solidFill>
              </a:rPr>
              <a:t>Add 56 module</a:t>
            </a:r>
            <a:r>
              <a:rPr lang="en">
                <a:solidFill>
                  <a:schemeClr val="dk1"/>
                </a:solidFill>
              </a:rPr>
              <a:t>. Since we're doing subtraction, we also set </a:t>
            </a:r>
            <a:r>
              <a:rPr b="1" lang="en">
                <a:solidFill>
                  <a:schemeClr val="dk1"/>
                </a:solidFill>
              </a:rPr>
              <a:t>Cin = 1</a:t>
            </a:r>
            <a:r>
              <a:rPr lang="en">
                <a:solidFill>
                  <a:schemeClr val="dk1"/>
                </a:solidFill>
              </a:rPr>
              <a:t> to complete the 2’s complement subtraction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 + ~F + 1</a:t>
            </a:r>
            <a:r>
              <a:rPr lang="en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</a:t>
            </a:r>
            <a:r>
              <a:rPr b="1" lang="en">
                <a:solidFill>
                  <a:schemeClr val="dk1"/>
                </a:solidFill>
              </a:rPr>
              <a:t>F is greater than E</a:t>
            </a:r>
            <a:r>
              <a:rPr lang="en">
                <a:solidFill>
                  <a:schemeClr val="dk1"/>
                </a:solidFill>
              </a:rPr>
              <a:t>, the result becomes negative — so we need to </a:t>
            </a:r>
            <a:r>
              <a:rPr b="1" lang="en">
                <a:solidFill>
                  <a:schemeClr val="dk1"/>
                </a:solidFill>
              </a:rPr>
              <a:t>complement the result again</a:t>
            </a:r>
            <a:r>
              <a:rPr lang="en">
                <a:solidFill>
                  <a:schemeClr val="dk1"/>
                </a:solidFill>
              </a:rPr>
              <a:t> using </a:t>
            </a:r>
            <a:r>
              <a:rPr b="1" lang="en">
                <a:solidFill>
                  <a:schemeClr val="dk1"/>
                </a:solidFill>
              </a:rPr>
              <a:t>1 Comp 57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carry-out</a:t>
            </a:r>
            <a:r>
              <a:rPr lang="en">
                <a:solidFill>
                  <a:schemeClr val="dk1"/>
                </a:solidFill>
              </a:rPr>
              <a:t> from the addition becomes the </a:t>
            </a:r>
            <a:r>
              <a:rPr b="1" lang="en">
                <a:solidFill>
                  <a:schemeClr val="dk1"/>
                </a:solidFill>
              </a:rPr>
              <a:t>57th bit</a:t>
            </a:r>
            <a:r>
              <a:rPr lang="en">
                <a:solidFill>
                  <a:schemeClr val="dk1"/>
                </a:solidFill>
              </a:rPr>
              <a:t>, which helps determine if the final result is negative and needs correction.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552edfd6e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552edfd6e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Inderpal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552edfd6e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552edfd6e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552edfd6e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552edfd6e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Feranmi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5529d3bc2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5529d3bc2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Feranmi Because We made a Major </a:t>
            </a:r>
            <a:r>
              <a:rPr lang="en"/>
              <a:t>revision to what was done in previous classes,</a:t>
            </a:r>
            <a:r>
              <a:rPr lang="en"/>
              <a:t> the order of rounding and normalization was reversed,  greatly simplifying the circuit.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5529d3bc2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5529d3bc2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Inderpal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the </a:t>
            </a:r>
            <a:r>
              <a:rPr b="1" lang="en">
                <a:solidFill>
                  <a:schemeClr val="dk1"/>
                </a:solidFill>
              </a:rPr>
              <a:t>Guard bit is 1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m0</a:t>
            </a:r>
            <a:r>
              <a:rPr lang="en">
                <a:solidFill>
                  <a:schemeClr val="dk1"/>
                </a:solidFill>
              </a:rPr>
              <a:t> is 1, and the </a:t>
            </a:r>
            <a:r>
              <a:rPr b="1" lang="en">
                <a:solidFill>
                  <a:schemeClr val="dk1"/>
                </a:solidFill>
              </a:rPr>
              <a:t>rounding mode is 0 (Round to Nearest)</a:t>
            </a:r>
            <a:r>
              <a:rPr lang="en">
                <a:solidFill>
                  <a:schemeClr val="dk1"/>
                </a:solidFill>
              </a:rPr>
              <a:t>, then the result is </a:t>
            </a:r>
            <a:r>
              <a:rPr b="1" lang="en">
                <a:solidFill>
                  <a:schemeClr val="dk1"/>
                </a:solidFill>
              </a:rPr>
              <a:t>rounded to the nearest even value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a </a:t>
            </a:r>
            <a:r>
              <a:rPr b="1" lang="en">
                <a:solidFill>
                  <a:schemeClr val="dk1"/>
                </a:solidFill>
              </a:rPr>
              <a:t>carry-out</a:t>
            </a:r>
            <a:r>
              <a:rPr lang="en">
                <a:solidFill>
                  <a:schemeClr val="dk1"/>
                </a:solidFill>
              </a:rPr>
              <a:t> occurs during rounding, the </a:t>
            </a:r>
            <a:r>
              <a:rPr b="1" lang="en">
                <a:solidFill>
                  <a:schemeClr val="dk1"/>
                </a:solidFill>
              </a:rPr>
              <a:t>exponent must be incremented</a:t>
            </a:r>
            <a:r>
              <a:rPr lang="en">
                <a:solidFill>
                  <a:schemeClr val="dk1"/>
                </a:solidFill>
              </a:rPr>
              <a:t> to keep the result normalized.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5529d3bc2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5529d3bc2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maybe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hyperlink" Target="https://csueb.instructure.com/groups/46716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0" y="721900"/>
            <a:ext cx="9144000" cy="1079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Add/Sub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By: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Inderpal Singh</a:t>
            </a:r>
            <a:b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	Sukhpinder Singh</a:t>
            </a:r>
            <a:b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	Pierreline Jacob</a:t>
            </a:r>
            <a:b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	Feranmi Falodun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05/06/2025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Top-Level Add/Sub Testing Circuit Overview</a:t>
            </a:r>
            <a:endParaRPr/>
          </a:p>
        </p:txBody>
      </p:sp>
      <p:sp>
        <p:nvSpPr>
          <p:cNvPr id="521" name="Google Shape;521;p68"/>
          <p:cNvSpPr txBox="1"/>
          <p:nvPr>
            <p:ph idx="1" type="body"/>
          </p:nvPr>
        </p:nvSpPr>
        <p:spPr>
          <a:xfrm>
            <a:off x="0" y="1152475"/>
            <a:ext cx="53529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This is the outer block of the floating-point Add/Sub circuit.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🔹 It receives: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- Input E: 1400FFFFFFFFFFFE = 3.999…91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- Input F: 13FF000000000002 = 1.000…04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- </a:t>
            </a:r>
            <a:r>
              <a:rPr lang="en"/>
              <a:t>Output</a:t>
            </a:r>
            <a:r>
              <a:rPr lang="en"/>
              <a:t> Sum: 40140…0 = 5.0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- Control: Add , Sub are active low signals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🔹 These values are passed into the internal datapath block for processing</a:t>
            </a:r>
            <a:r>
              <a:rPr lang="en" sz="2400"/>
              <a:t>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522" name="Google Shape;52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5300" y="1322525"/>
            <a:ext cx="3486300" cy="1966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Pipeline Stage</a:t>
            </a:r>
            <a:endParaRPr/>
          </a:p>
        </p:txBody>
      </p:sp>
      <p:pic>
        <p:nvPicPr>
          <p:cNvPr id="528" name="Google Shape;52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26" y="1152478"/>
            <a:ext cx="6328676" cy="33436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69"/>
          <p:cNvSpPr txBox="1"/>
          <p:nvPr/>
        </p:nvSpPr>
        <p:spPr>
          <a:xfrm>
            <a:off x="6689525" y="1221675"/>
            <a:ext cx="2124300" cy="3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Add or </a:t>
            </a:r>
            <a:r>
              <a:rPr lang="en" sz="1800">
                <a:solidFill>
                  <a:schemeClr val="dk2"/>
                </a:solidFill>
              </a:rPr>
              <a:t>Subtract is possible every clock cycle because of pipelining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0"/>
          <p:cNvSpPr txBox="1"/>
          <p:nvPr>
            <p:ph idx="1" type="body"/>
          </p:nvPr>
        </p:nvSpPr>
        <p:spPr>
          <a:xfrm>
            <a:off x="311700" y="1129575"/>
            <a:ext cx="8520600" cy="3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Module:</a:t>
            </a:r>
            <a:r>
              <a:rPr lang="en"/>
              <a:t> </a:t>
            </a:r>
            <a:r>
              <a:rPr lang="en">
                <a:solidFill>
                  <a:srgbClr val="188038"/>
                </a:solidFill>
              </a:rPr>
              <a:t>Tester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Function: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192-bit EPROM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Tester with 32 test cases controlled by the keyboard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Tests how double-precision floating point numbers behaves in edge cases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EX: Very small/large numbers, Rounding errors, Overflow and Underflow, </a:t>
            </a:r>
            <a:r>
              <a:rPr lang="en">
                <a:solidFill>
                  <a:schemeClr val="dk1"/>
                </a:solidFill>
              </a:rPr>
              <a:t>Infinity</a:t>
            </a:r>
            <a:r>
              <a:rPr lang="en">
                <a:solidFill>
                  <a:schemeClr val="dk1"/>
                </a:solidFill>
              </a:rPr>
              <a:t> and Not a Number(nan), and Precision boundaries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Register &amp; Decode Inputs</a:t>
            </a:r>
            <a:endParaRPr/>
          </a:p>
        </p:txBody>
      </p:sp>
      <p:sp>
        <p:nvSpPr>
          <p:cNvPr id="540" name="Google Shape;540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Modules: </a:t>
            </a:r>
            <a:r>
              <a:rPr lang="en" sz="1900">
                <a:solidFill>
                  <a:srgbClr val="188038"/>
                </a:solidFill>
              </a:rPr>
              <a:t>Reg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lang="en" sz="1900">
                <a:solidFill>
                  <a:srgbClr val="188038"/>
                </a:solidFill>
              </a:rPr>
              <a:t>Corners</a:t>
            </a:r>
            <a:endParaRPr sz="19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Function: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Inputs E and F (</a:t>
            </a:r>
            <a:r>
              <a:rPr lang="en" sz="1900">
                <a:solidFill>
                  <a:srgbClr val="188038"/>
                </a:solidFill>
              </a:rPr>
              <a:t>1400FFFFFFFFFFFE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lang="en" sz="1900">
                <a:solidFill>
                  <a:srgbClr val="188038"/>
                </a:solidFill>
              </a:rPr>
              <a:t>13FF000000000002</a:t>
            </a:r>
            <a:r>
              <a:rPr lang="en" sz="1900">
                <a:solidFill>
                  <a:schemeClr val="dk1"/>
                </a:solidFill>
              </a:rPr>
              <a:t>) are loaded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Extract </a:t>
            </a:r>
            <a:r>
              <a:rPr b="1" lang="en" sz="1900">
                <a:solidFill>
                  <a:schemeClr val="dk1"/>
                </a:solidFill>
              </a:rPr>
              <a:t>sign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b="1" lang="en" sz="1900">
                <a:solidFill>
                  <a:schemeClr val="dk1"/>
                </a:solidFill>
              </a:rPr>
              <a:t>exponent= all 0 or 1</a:t>
            </a:r>
            <a:r>
              <a:rPr lang="en" sz="1900">
                <a:solidFill>
                  <a:schemeClr val="dk1"/>
                </a:solidFill>
              </a:rPr>
              <a:t>, and </a:t>
            </a:r>
            <a:r>
              <a:rPr b="1" lang="en" sz="1900">
                <a:solidFill>
                  <a:schemeClr val="dk1"/>
                </a:solidFill>
              </a:rPr>
              <a:t>significand =0</a:t>
            </a:r>
            <a:br>
              <a:rPr b="1" lang="en" sz="1900">
                <a:solidFill>
                  <a:schemeClr val="dk1"/>
                </a:solidFill>
              </a:rPr>
            </a:b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Cases PLA checks for special values (NaN, INF, GU, etc.)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41" name="Google Shape;541;p71"/>
          <p:cNvSpPr/>
          <p:nvPr/>
        </p:nvSpPr>
        <p:spPr>
          <a:xfrm>
            <a:off x="2578500" y="1008150"/>
            <a:ext cx="1927106" cy="1235200"/>
          </a:xfrm>
          <a:custGeom>
            <a:rect b="b" l="l" r="r" t="t"/>
            <a:pathLst>
              <a:path extrusionOk="0" h="49408" w="78060">
                <a:moveTo>
                  <a:pt x="78061" y="0"/>
                </a:moveTo>
                <a:cubicBezTo>
                  <a:pt x="73773" y="2901"/>
                  <a:pt x="64727" y="12920"/>
                  <a:pt x="52330" y="17407"/>
                </a:cubicBezTo>
                <a:cubicBezTo>
                  <a:pt x="39933" y="21894"/>
                  <a:pt x="11824" y="21588"/>
                  <a:pt x="3679" y="26921"/>
                </a:cubicBezTo>
                <a:cubicBezTo>
                  <a:pt x="-4465" y="32255"/>
                  <a:pt x="3499" y="45660"/>
                  <a:pt x="3463" y="4940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542" name="Google Shape;542;p71"/>
          <p:cNvCxnSpPr/>
          <p:nvPr/>
        </p:nvCxnSpPr>
        <p:spPr>
          <a:xfrm>
            <a:off x="2640675" y="2135250"/>
            <a:ext cx="29700" cy="10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3" name="Google Shape;543;p71"/>
          <p:cNvSpPr/>
          <p:nvPr/>
        </p:nvSpPr>
        <p:spPr>
          <a:xfrm>
            <a:off x="4527250" y="997350"/>
            <a:ext cx="756075" cy="1256825"/>
          </a:xfrm>
          <a:custGeom>
            <a:rect b="b" l="l" r="r" t="t"/>
            <a:pathLst>
              <a:path extrusionOk="0" h="50273" w="30243">
                <a:moveTo>
                  <a:pt x="0" y="0"/>
                </a:moveTo>
                <a:cubicBezTo>
                  <a:pt x="685" y="3207"/>
                  <a:pt x="-793" y="14037"/>
                  <a:pt x="4108" y="19244"/>
                </a:cubicBezTo>
                <a:cubicBezTo>
                  <a:pt x="9009" y="24452"/>
                  <a:pt x="26074" y="26074"/>
                  <a:pt x="29407" y="31245"/>
                </a:cubicBezTo>
                <a:cubicBezTo>
                  <a:pt x="32741" y="36417"/>
                  <a:pt x="24992" y="47102"/>
                  <a:pt x="24109" y="5027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44" name="Google Shape;544;p71"/>
          <p:cNvSpPr txBox="1"/>
          <p:nvPr/>
        </p:nvSpPr>
        <p:spPr>
          <a:xfrm>
            <a:off x="4365100" y="667600"/>
            <a:ext cx="15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Hidden one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45" name="Google Shape;545;p71"/>
          <p:cNvSpPr/>
          <p:nvPr/>
        </p:nvSpPr>
        <p:spPr>
          <a:xfrm>
            <a:off x="2729875" y="2459575"/>
            <a:ext cx="375675" cy="96525"/>
          </a:xfrm>
          <a:custGeom>
            <a:rect b="b" l="l" r="r" t="t"/>
            <a:pathLst>
              <a:path extrusionOk="0" h="3861" w="15027">
                <a:moveTo>
                  <a:pt x="0" y="217"/>
                </a:moveTo>
                <a:cubicBezTo>
                  <a:pt x="0" y="5227"/>
                  <a:pt x="14319" y="4959"/>
                  <a:pt x="15027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6" name="Google Shape;546;p71"/>
          <p:cNvSpPr/>
          <p:nvPr/>
        </p:nvSpPr>
        <p:spPr>
          <a:xfrm>
            <a:off x="5174275" y="2441700"/>
            <a:ext cx="375675" cy="96525"/>
          </a:xfrm>
          <a:custGeom>
            <a:rect b="b" l="l" r="r" t="t"/>
            <a:pathLst>
              <a:path extrusionOk="0" h="3861" w="15027">
                <a:moveTo>
                  <a:pt x="0" y="217"/>
                </a:moveTo>
                <a:cubicBezTo>
                  <a:pt x="0" y="5227"/>
                  <a:pt x="14319" y="4959"/>
                  <a:pt x="15027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7" name="Google Shape;547;p71"/>
          <p:cNvSpPr/>
          <p:nvPr/>
        </p:nvSpPr>
        <p:spPr>
          <a:xfrm>
            <a:off x="3021800" y="2556100"/>
            <a:ext cx="4283975" cy="311325"/>
          </a:xfrm>
          <a:custGeom>
            <a:rect b="b" l="l" r="r" t="t"/>
            <a:pathLst>
              <a:path extrusionOk="0" h="12453" w="171359">
                <a:moveTo>
                  <a:pt x="171359" y="8109"/>
                </a:moveTo>
                <a:cubicBezTo>
                  <a:pt x="164007" y="7082"/>
                  <a:pt x="151737" y="1225"/>
                  <a:pt x="127249" y="1946"/>
                </a:cubicBezTo>
                <a:cubicBezTo>
                  <a:pt x="102761" y="2667"/>
                  <a:pt x="45641" y="12757"/>
                  <a:pt x="24433" y="12433"/>
                </a:cubicBezTo>
                <a:cubicBezTo>
                  <a:pt x="3225" y="12109"/>
                  <a:pt x="4072" y="2072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548" name="Google Shape;548;p71"/>
          <p:cNvCxnSpPr/>
          <p:nvPr/>
        </p:nvCxnSpPr>
        <p:spPr>
          <a:xfrm rot="10800000">
            <a:off x="3032650" y="2565100"/>
            <a:ext cx="70200" cy="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9" name="Google Shape;549;p71"/>
          <p:cNvSpPr/>
          <p:nvPr/>
        </p:nvSpPr>
        <p:spPr>
          <a:xfrm>
            <a:off x="5438100" y="2535250"/>
            <a:ext cx="873025" cy="106200"/>
          </a:xfrm>
          <a:custGeom>
            <a:rect b="b" l="l" r="r" t="t"/>
            <a:pathLst>
              <a:path extrusionOk="0" h="4248" w="34921">
                <a:moveTo>
                  <a:pt x="34921" y="2811"/>
                </a:moveTo>
                <a:cubicBezTo>
                  <a:pt x="31750" y="2595"/>
                  <a:pt x="21083" y="1280"/>
                  <a:pt x="15893" y="1514"/>
                </a:cubicBezTo>
                <a:cubicBezTo>
                  <a:pt x="10704" y="1748"/>
                  <a:pt x="6433" y="4469"/>
                  <a:pt x="3784" y="4217"/>
                </a:cubicBezTo>
                <a:cubicBezTo>
                  <a:pt x="1135" y="3965"/>
                  <a:pt x="631" y="703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50" name="Google Shape;550;p71"/>
          <p:cNvSpPr txBox="1"/>
          <p:nvPr/>
        </p:nvSpPr>
        <p:spPr>
          <a:xfrm>
            <a:off x="7249000" y="2556100"/>
            <a:ext cx="15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exponent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 Comparison &amp; Swap</a:t>
            </a:r>
            <a:endParaRPr/>
          </a:p>
        </p:txBody>
      </p:sp>
      <p:sp>
        <p:nvSpPr>
          <p:cNvPr id="556" name="Google Shape;556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Modules: </a:t>
            </a:r>
            <a:r>
              <a:rPr lang="en" sz="1900">
                <a:solidFill>
                  <a:srgbClr val="188038"/>
                </a:solidFill>
              </a:rPr>
              <a:t>Sub 12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lang="en" sz="1900">
                <a:solidFill>
                  <a:srgbClr val="188038"/>
                </a:solidFill>
              </a:rPr>
              <a:t>Swap, Clip</a:t>
            </a:r>
            <a:endParaRPr sz="19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Function: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Two exponent differences are calculated (E-F=1; F-E=FFF)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If needed, swap operands so the one with the </a:t>
            </a:r>
            <a:r>
              <a:rPr b="1" lang="en" sz="1900">
                <a:solidFill>
                  <a:schemeClr val="dk1"/>
                </a:solidFill>
              </a:rPr>
              <a:t>larger exponent is E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Positive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exponent</a:t>
            </a:r>
            <a:r>
              <a:rPr lang="en" sz="1900">
                <a:solidFill>
                  <a:schemeClr val="dk1"/>
                </a:solidFill>
              </a:rPr>
              <a:t> is </a:t>
            </a:r>
            <a:r>
              <a:rPr lang="en" sz="1900">
                <a:solidFill>
                  <a:schemeClr val="dk1"/>
                </a:solidFill>
              </a:rPr>
              <a:t>clipped before sending to the denormalizer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I</a:t>
            </a:r>
            <a:r>
              <a:rPr lang="en" sz="1900">
                <a:solidFill>
                  <a:schemeClr val="dk1"/>
                </a:solidFill>
              </a:rPr>
              <a:t>n this case: </a:t>
            </a:r>
            <a:r>
              <a:rPr b="1" lang="en" sz="1900">
                <a:solidFill>
                  <a:schemeClr val="dk1"/>
                </a:solidFill>
              </a:rPr>
              <a:t>E stays</a:t>
            </a:r>
            <a:r>
              <a:rPr lang="en" sz="1900">
                <a:solidFill>
                  <a:schemeClr val="dk1"/>
                </a:solidFill>
              </a:rPr>
              <a:t>; no swap needed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Output: F is passed to the denormalizer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Mantissa Alignment (Denormalization)</a:t>
            </a:r>
            <a:endParaRPr/>
          </a:p>
        </p:txBody>
      </p:sp>
      <p:sp>
        <p:nvSpPr>
          <p:cNvPr id="562" name="Google Shape;562;p73"/>
          <p:cNvSpPr txBox="1"/>
          <p:nvPr>
            <p:ph idx="1" type="body"/>
          </p:nvPr>
        </p:nvSpPr>
        <p:spPr>
          <a:xfrm>
            <a:off x="311700" y="1152475"/>
            <a:ext cx="7050600" cy="3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Modules: </a:t>
            </a:r>
            <a:r>
              <a:rPr lang="en">
                <a:solidFill>
                  <a:srgbClr val="188038"/>
                </a:solidFill>
              </a:rPr>
              <a:t>Positive Difference, Clip, Denorm</a:t>
            </a:r>
            <a:endParaRPr>
              <a:solidFill>
                <a:srgbClr val="18803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Function: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Mantissa of the smaller exponent is right-shifted by the positive difference, limited by 63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Clip ensures that the number remains between 0-63 bits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Denorm generates extra bits for rounding and these extra bits are used for inexact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Output: Aligned mantissas, ready to be subtracted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 net subtraction: 1's complement of F is added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</a:t>
            </a:r>
            <a:endParaRPr/>
          </a:p>
        </p:txBody>
      </p:sp>
      <p:sp>
        <p:nvSpPr>
          <p:cNvPr id="568" name="Google Shape;568;p74"/>
          <p:cNvSpPr txBox="1"/>
          <p:nvPr>
            <p:ph idx="1" type="body"/>
          </p:nvPr>
        </p:nvSpPr>
        <p:spPr>
          <a:xfrm>
            <a:off x="6484450" y="1152475"/>
            <a:ext cx="2623500" cy="37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Swapping</a:t>
            </a:r>
            <a:r>
              <a:rPr lang="en"/>
              <a:t> because we </a:t>
            </a:r>
            <a:r>
              <a:rPr lang="en"/>
              <a:t>need</a:t>
            </a:r>
            <a:r>
              <a:rPr lang="en"/>
              <a:t> </a:t>
            </a:r>
            <a:r>
              <a:rPr lang="en"/>
              <a:t>smaller</a:t>
            </a:r>
            <a:r>
              <a:rPr lang="en"/>
              <a:t> number for the </a:t>
            </a:r>
            <a:r>
              <a:rPr lang="en"/>
              <a:t>denormalizer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Increasing the number of bits to 56</a:t>
            </a:r>
            <a:endParaRPr/>
          </a:p>
        </p:txBody>
      </p:sp>
      <p:pic>
        <p:nvPicPr>
          <p:cNvPr id="569" name="Google Shape;56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6097"/>
            <a:ext cx="6536601" cy="23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Denormalizer</a:t>
            </a:r>
            <a:endParaRPr/>
          </a:p>
        </p:txBody>
      </p:sp>
      <p:pic>
        <p:nvPicPr>
          <p:cNvPr id="575" name="Google Shape;57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76" y="1070775"/>
            <a:ext cx="5930601" cy="37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75"/>
          <p:cNvSpPr txBox="1"/>
          <p:nvPr/>
        </p:nvSpPr>
        <p:spPr>
          <a:xfrm>
            <a:off x="5820450" y="1360375"/>
            <a:ext cx="3303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Right Barrel shifter 0-63 bits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OR gates are </a:t>
            </a:r>
            <a:r>
              <a:rPr lang="en" sz="1800">
                <a:solidFill>
                  <a:schemeClr val="dk2"/>
                </a:solidFill>
              </a:rPr>
              <a:t>summarizing</a:t>
            </a:r>
            <a:r>
              <a:rPr lang="en" sz="1800">
                <a:solidFill>
                  <a:schemeClr val="dk2"/>
                </a:solidFill>
              </a:rPr>
              <a:t> the information otherwise </a:t>
            </a:r>
            <a:r>
              <a:rPr lang="en" sz="1800">
                <a:solidFill>
                  <a:schemeClr val="dk2"/>
                </a:solidFill>
              </a:rPr>
              <a:t>discarded for use in rounding and inexact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Mantissa </a:t>
            </a:r>
            <a:r>
              <a:rPr lang="en"/>
              <a:t>Addition</a:t>
            </a:r>
            <a:r>
              <a:rPr lang="en"/>
              <a:t> or Subtraction</a:t>
            </a:r>
            <a:endParaRPr/>
          </a:p>
        </p:txBody>
      </p:sp>
      <p:sp>
        <p:nvSpPr>
          <p:cNvPr id="582" name="Google Shape;582;p76"/>
          <p:cNvSpPr txBox="1"/>
          <p:nvPr>
            <p:ph idx="1" type="body"/>
          </p:nvPr>
        </p:nvSpPr>
        <p:spPr>
          <a:xfrm>
            <a:off x="311700" y="1152475"/>
            <a:ext cx="34875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Modules: </a:t>
            </a:r>
            <a:r>
              <a:rPr lang="en">
                <a:solidFill>
                  <a:srgbClr val="188038"/>
                </a:solidFill>
              </a:rPr>
              <a:t>Add 56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</a:rPr>
              <a:t>1 Comp 57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Function: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ALU performs 1’s complement addition or subtraction of mantissas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Handles edge cases (overflow, small values, negative result)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Output: </a:t>
            </a:r>
            <a:r>
              <a:rPr lang="en">
                <a:solidFill>
                  <a:schemeClr val="dk1"/>
                </a:solidFill>
              </a:rPr>
              <a:t>Unnormalized</a:t>
            </a:r>
            <a:r>
              <a:rPr lang="en">
                <a:solidFill>
                  <a:schemeClr val="dk1"/>
                </a:solidFill>
              </a:rPr>
              <a:t> result of addition or subtraction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83" name="Google Shape;58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075" y="1332075"/>
            <a:ext cx="4995225" cy="28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Renormalization</a:t>
            </a:r>
            <a:endParaRPr/>
          </a:p>
        </p:txBody>
      </p:sp>
      <p:sp>
        <p:nvSpPr>
          <p:cNvPr id="589" name="Google Shape;589;p77"/>
          <p:cNvSpPr txBox="1"/>
          <p:nvPr>
            <p:ph idx="1" type="body"/>
          </p:nvPr>
        </p:nvSpPr>
        <p:spPr>
          <a:xfrm>
            <a:off x="5872725" y="1281450"/>
            <a:ext cx="2959500" cy="32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0-63 bit left </a:t>
            </a:r>
            <a:r>
              <a:rPr lang="en"/>
              <a:t>shift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Extra bits </a:t>
            </a:r>
            <a:r>
              <a:rPr lang="en"/>
              <a:t>becomes</a:t>
            </a:r>
            <a:r>
              <a:rPr lang="en"/>
              <a:t> sticky, round, and </a:t>
            </a:r>
            <a:r>
              <a:rPr lang="en"/>
              <a:t>guard</a:t>
            </a:r>
            <a:endParaRPr/>
          </a:p>
        </p:txBody>
      </p:sp>
      <p:pic>
        <p:nvPicPr>
          <p:cNvPr id="590" name="Google Shape;59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" y="1079675"/>
            <a:ext cx="5744074" cy="374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</a:t>
            </a:r>
            <a:r>
              <a:rPr lang="en"/>
              <a:t> Adjustments</a:t>
            </a:r>
            <a:endParaRPr/>
          </a:p>
        </p:txBody>
      </p:sp>
      <p:pic>
        <p:nvPicPr>
          <p:cNvPr id="596" name="Google Shape;59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500" y="1211375"/>
            <a:ext cx="6397999" cy="39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Normalization Count</a:t>
            </a:r>
            <a:endParaRPr/>
          </a:p>
        </p:txBody>
      </p:sp>
      <p:pic>
        <p:nvPicPr>
          <p:cNvPr id="602" name="Google Shape;60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01" y="1126775"/>
            <a:ext cx="3416825" cy="3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Normalization</a:t>
            </a:r>
            <a:endParaRPr/>
          </a:p>
        </p:txBody>
      </p:sp>
      <p:sp>
        <p:nvSpPr>
          <p:cNvPr id="608" name="Google Shape;608;p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Modules: </a:t>
            </a:r>
            <a:r>
              <a:rPr lang="en">
                <a:solidFill>
                  <a:srgbClr val="188038"/>
                </a:solidFill>
              </a:rPr>
              <a:t>Leading Zero Counter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</a:rPr>
              <a:t>Normalize Count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</a:rPr>
              <a:t>EXP</a:t>
            </a:r>
            <a:endParaRPr>
              <a:solidFill>
                <a:srgbClr val="18803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Function: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Counts leading zeros in result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Shifts result left and decreases exponent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Default assumes that addition will generate a larger leading bit, so the default binary point is moved left.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 Test Case 0: </a:t>
            </a:r>
            <a:r>
              <a:rPr b="1" lang="en">
                <a:solidFill>
                  <a:schemeClr val="dk1"/>
                </a:solidFill>
              </a:rPr>
              <a:t>No shift needed</a:t>
            </a:r>
            <a:r>
              <a:rPr lang="en">
                <a:solidFill>
                  <a:schemeClr val="dk1"/>
                </a:solidFill>
              </a:rPr>
              <a:t>; result is already normalized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1"/>
          <p:cNvSpPr txBox="1"/>
          <p:nvPr>
            <p:ph type="title"/>
          </p:nvPr>
        </p:nvSpPr>
        <p:spPr>
          <a:xfrm>
            <a:off x="311700" y="401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Rounding</a:t>
            </a:r>
            <a:endParaRPr/>
          </a:p>
        </p:txBody>
      </p:sp>
      <p:sp>
        <p:nvSpPr>
          <p:cNvPr id="614" name="Google Shape;614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Modules: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Round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rm0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rm1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Function: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Modes: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0 : RN  Round result to nearest </a:t>
            </a:r>
            <a:r>
              <a:rPr lang="en" sz="1100">
                <a:solidFill>
                  <a:schemeClr val="dk1"/>
                </a:solidFill>
              </a:rPr>
              <a:t>representable</a:t>
            </a:r>
            <a:r>
              <a:rPr lang="en" sz="1100">
                <a:solidFill>
                  <a:schemeClr val="dk1"/>
                </a:solidFill>
              </a:rPr>
              <a:t> value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1 : RZ  Round toward zero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2 : RP  Round toward +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∞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3 : RM Round toward </a:t>
            </a:r>
            <a:r>
              <a:rPr lang="en">
                <a:solidFill>
                  <a:schemeClr val="dk1"/>
                </a:solidFill>
              </a:rPr>
              <a:t>-</a:t>
            </a: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∞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Applies rounding based on modes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Adjusts LSB and exponent if needed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Output: Final IEEE-754 result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5" name="Google Shape;61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138" y="1517000"/>
            <a:ext cx="3248025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Detection &amp; Output</a:t>
            </a:r>
            <a:endParaRPr/>
          </a:p>
        </p:txBody>
      </p:sp>
      <p:sp>
        <p:nvSpPr>
          <p:cNvPr id="621" name="Google Shape;621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</a:t>
            </a:r>
            <a:r>
              <a:rPr lang="en" sz="1800">
                <a:solidFill>
                  <a:schemeClr val="dk1"/>
                </a:solidFill>
              </a:rPr>
              <a:t>xception flags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Invalid : </a:t>
            </a:r>
            <a:r>
              <a:rPr lang="en" sz="1800">
                <a:solidFill>
                  <a:schemeClr val="dk1"/>
                </a:solidFill>
              </a:rPr>
              <a:t>Discover</a:t>
            </a:r>
            <a:r>
              <a:rPr lang="en" sz="1800">
                <a:solidFill>
                  <a:schemeClr val="dk1"/>
                </a:solidFill>
              </a:rPr>
              <a:t> in cases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Overflow : Discover in </a:t>
            </a:r>
            <a:r>
              <a:rPr lang="en" sz="1800">
                <a:solidFill>
                  <a:schemeClr val="dk1"/>
                </a:solidFill>
              </a:rPr>
              <a:t>exponent</a:t>
            </a:r>
            <a:r>
              <a:rPr lang="en" sz="1800">
                <a:solidFill>
                  <a:schemeClr val="dk1"/>
                </a:solidFill>
              </a:rPr>
              <a:t> adjustments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Inexact : Discover in rounding and includes overflow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Outputs the final 64-bit result to </a:t>
            </a:r>
            <a:r>
              <a:rPr lang="en" sz="1800">
                <a:solidFill>
                  <a:srgbClr val="188038"/>
                </a:solidFill>
              </a:rPr>
              <a:t>Sum</a:t>
            </a:r>
            <a:endParaRPr sz="18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Test Case 0 Output: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Result = </a:t>
            </a:r>
            <a:r>
              <a:rPr lang="en">
                <a:solidFill>
                  <a:srgbClr val="188038"/>
                </a:solidFill>
              </a:rPr>
              <a:t>4014000000000000</a:t>
            </a:r>
            <a:endParaRPr>
              <a:solidFill>
                <a:srgbClr val="18803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Flags = active low signals (0, Z, Z)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